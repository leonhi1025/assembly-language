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8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0000FF"/>
    <a:srgbClr val="95969A"/>
    <a:srgbClr val="A18BFF"/>
    <a:srgbClr val="E830A0"/>
    <a:srgbClr val="FDE0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71" autoAdjust="0"/>
    <p:restoredTop sz="96181"/>
  </p:normalViewPr>
  <p:slideViewPr>
    <p:cSldViewPr snapToGrid="0">
      <p:cViewPr>
        <p:scale>
          <a:sx n="33" d="100"/>
          <a:sy n="33" d="100"/>
        </p:scale>
        <p:origin x="677" y="-26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313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B623C-7995-4779-8946-2AAFF995EFA9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E14BEC-2973-4E2D-880A-EA0A941D2F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6366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7942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9" y="81"/>
            <a:ext cx="30263689" cy="4280368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BDD8B22-79D2-F2FF-FB2F-F3B03CD902F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5082" y="696451"/>
            <a:ext cx="4953000" cy="16764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F8BF7C6-CC24-F2B5-17B0-E9E7D19C99B5}"/>
              </a:ext>
            </a:extLst>
          </p:cNvPr>
          <p:cNvSpPr/>
          <p:nvPr userDrawn="1"/>
        </p:nvSpPr>
        <p:spPr>
          <a:xfrm>
            <a:off x="6375451" y="1127210"/>
            <a:ext cx="9161482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/>
            <a:r>
              <a:rPr lang="zh-TW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微星科技股份有限公司獨家贊助</a:t>
            </a:r>
            <a:endParaRPr lang="en-US" altLang="zh-TW" sz="5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72362BF-68AD-4AF4-B54F-36AED0A12198}"/>
              </a:ext>
            </a:extLst>
          </p:cNvPr>
          <p:cNvSpPr>
            <a:spLocks/>
          </p:cNvSpPr>
          <p:nvPr userDrawn="1"/>
        </p:nvSpPr>
        <p:spPr>
          <a:xfrm>
            <a:off x="24875213" y="0"/>
            <a:ext cx="5400000" cy="5400000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創意</a:t>
            </a:r>
            <a:endParaRPr lang="en-US" altLang="zh-TW" sz="12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構想</a:t>
            </a:r>
            <a:endParaRPr lang="zh-TW" altLang="en-US" sz="1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36B2ADD-E739-497A-B089-D56824DEEC18}"/>
              </a:ext>
            </a:extLst>
          </p:cNvPr>
          <p:cNvSpPr/>
          <p:nvPr userDrawn="1"/>
        </p:nvSpPr>
        <p:spPr>
          <a:xfrm>
            <a:off x="965082" y="2372851"/>
            <a:ext cx="1038942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zh-TW" altLang="en-US" sz="200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原力覺醒</a:t>
            </a:r>
            <a:endParaRPr lang="en-US" altLang="zh-TW" sz="200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96445D2-A4FA-4520-B480-5766CFAF0D66}"/>
              </a:ext>
            </a:extLst>
          </p:cNvPr>
          <p:cNvSpPr/>
          <p:nvPr userDrawn="1"/>
        </p:nvSpPr>
        <p:spPr>
          <a:xfrm>
            <a:off x="11354502" y="2459881"/>
            <a:ext cx="12220012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TW" sz="100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2025</a:t>
            </a:r>
            <a:r>
              <a:rPr lang="zh-TW" altLang="en-US" sz="100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年電機資訊學院</a:t>
            </a:r>
            <a:endParaRPr lang="en-US" altLang="zh-TW" sz="100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專題暨創意構想競賽</a:t>
            </a:r>
            <a:endParaRPr lang="en-US" altLang="zh-TW" sz="100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14351B7-80EC-AD2D-290A-48F122D6D892}"/>
              </a:ext>
            </a:extLst>
          </p:cNvPr>
          <p:cNvSpPr>
            <a:spLocks/>
          </p:cNvSpPr>
          <p:nvPr userDrawn="1"/>
        </p:nvSpPr>
        <p:spPr>
          <a:xfrm>
            <a:off x="24875213" y="5400000"/>
            <a:ext cx="5400000" cy="14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76200">
            <a:solidFill>
              <a:schemeClr val="tx1"/>
            </a:solidFill>
          </a:ln>
        </p:spPr>
        <p:txBody>
          <a:bodyPr wrap="square" anchor="ctr">
            <a:noAutofit/>
          </a:bodyPr>
          <a:lstStyle/>
          <a:p>
            <a:pPr algn="l"/>
            <a:r>
              <a:rPr lang="zh-TW" altLang="en-US" sz="7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編號：</a:t>
            </a:r>
            <a:endParaRPr lang="zh-TW" altLang="en-US" sz="7200" b="1" dirty="0">
              <a:solidFill>
                <a:schemeClr val="accent5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4351B7-80EC-AD2D-290A-48F122D6D892}"/>
              </a:ext>
            </a:extLst>
          </p:cNvPr>
          <p:cNvSpPr/>
          <p:nvPr userDrawn="1"/>
        </p:nvSpPr>
        <p:spPr>
          <a:xfrm>
            <a:off x="24869478" y="6840000"/>
            <a:ext cx="5400000" cy="14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76200">
            <a:solidFill>
              <a:schemeClr val="tx1"/>
            </a:solidFill>
          </a:ln>
        </p:spPr>
        <p:txBody>
          <a:bodyPr wrap="none" anchor="ctr">
            <a:noAutofit/>
          </a:bodyPr>
          <a:lstStyle/>
          <a:p>
            <a:pPr algn="l"/>
            <a:r>
              <a:rPr lang="zh-TW" altLang="en-US" sz="5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展演語言：</a:t>
            </a:r>
            <a:endParaRPr lang="zh-TW" altLang="en-US" sz="5000" b="1" dirty="0">
              <a:solidFill>
                <a:schemeClr val="accent5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3264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E995C00-4F7D-1B35-4E01-04DC6AD136C5}"/>
              </a:ext>
            </a:extLst>
          </p:cNvPr>
          <p:cNvSpPr/>
          <p:nvPr/>
        </p:nvSpPr>
        <p:spPr>
          <a:xfrm>
            <a:off x="1102242" y="11751046"/>
            <a:ext cx="5400000" cy="1440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anchor="ctr">
            <a:spAutoFit/>
          </a:bodyPr>
          <a:lstStyle/>
          <a:p>
            <a:pPr lvl="0" algn="ctr"/>
            <a:r>
              <a:rPr lang="en-US" altLang="zh-TW" sz="70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Abstract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995C00-4F7D-1B35-4E01-04DC6AD136C5}"/>
              </a:ext>
            </a:extLst>
          </p:cNvPr>
          <p:cNvSpPr/>
          <p:nvPr/>
        </p:nvSpPr>
        <p:spPr>
          <a:xfrm>
            <a:off x="12756046" y="11751046"/>
            <a:ext cx="5400000" cy="1440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anchor="ctr">
            <a:spAutoFit/>
          </a:bodyPr>
          <a:lstStyle/>
          <a:p>
            <a:pPr lvl="0" algn="ctr"/>
            <a:r>
              <a:rPr lang="en-US" altLang="zh-TW" sz="70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Motivation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995C00-4F7D-1B35-4E01-04DC6AD136C5}"/>
              </a:ext>
            </a:extLst>
          </p:cNvPr>
          <p:cNvSpPr/>
          <p:nvPr/>
        </p:nvSpPr>
        <p:spPr>
          <a:xfrm>
            <a:off x="1246939" y="18982845"/>
            <a:ext cx="6120000" cy="1440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anchor="ctr">
            <a:spAutoFit/>
          </a:bodyPr>
          <a:lstStyle/>
          <a:p>
            <a:pPr lvl="0" algn="ctr"/>
            <a:r>
              <a:rPr lang="en-US" altLang="zh-TW" sz="70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995C00-4F7D-1B35-4E01-04DC6AD136C5}"/>
              </a:ext>
            </a:extLst>
          </p:cNvPr>
          <p:cNvSpPr/>
          <p:nvPr/>
        </p:nvSpPr>
        <p:spPr>
          <a:xfrm>
            <a:off x="1606939" y="33198519"/>
            <a:ext cx="5400000" cy="1440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anchor="ctr">
            <a:spAutoFit/>
          </a:bodyPr>
          <a:lstStyle/>
          <a:p>
            <a:pPr lvl="0" algn="ctr"/>
            <a:r>
              <a:rPr lang="en-US" altLang="zh-TW" sz="7000" b="1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F75342-2254-0F90-8043-3FFA5560121D}"/>
              </a:ext>
            </a:extLst>
          </p:cNvPr>
          <p:cNvSpPr/>
          <p:nvPr/>
        </p:nvSpPr>
        <p:spPr>
          <a:xfrm>
            <a:off x="1102242" y="5851859"/>
            <a:ext cx="26623604" cy="6357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7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Team Name</a:t>
            </a:r>
            <a:r>
              <a:rPr lang="zh-TW" altLang="en-US" sz="7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：微星好美麗隊</a:t>
            </a:r>
            <a:endParaRPr lang="en-US" altLang="zh-TW" sz="7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7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Title</a:t>
            </a:r>
            <a:r>
              <a:rPr lang="zh-TW" altLang="en-US" sz="7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：人工智慧的碳，我來發電</a:t>
            </a:r>
            <a:endParaRPr lang="en-US" altLang="zh-TW" sz="7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70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Team Member</a:t>
            </a:r>
            <a:r>
              <a:rPr lang="zh-TW" altLang="en-US" sz="70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：莊有隆</a:t>
            </a:r>
            <a:r>
              <a:rPr lang="en-US" altLang="zh-TW" sz="7000" b="1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Youlong</a:t>
            </a:r>
            <a:r>
              <a:rPr lang="en-US" altLang="zh-TW" sz="70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Zhuang</a:t>
            </a:r>
            <a:r>
              <a:rPr lang="zh-TW" altLang="en-US" sz="70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、林宇宸</a:t>
            </a:r>
            <a:r>
              <a:rPr lang="en-US" altLang="zh-TW" sz="70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Yuchen Lin</a:t>
            </a:r>
            <a:endParaRPr lang="zh-TW" altLang="en-US" sz="70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zh-TW" sz="7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4910018-225F-D778-452F-37097D5964D7}"/>
              </a:ext>
            </a:extLst>
          </p:cNvPr>
          <p:cNvSpPr txBox="1"/>
          <p:nvPr/>
        </p:nvSpPr>
        <p:spPr>
          <a:xfrm>
            <a:off x="3870960" y="146913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02841E4-5A50-69D2-2F3B-66A36AF00BEE}"/>
              </a:ext>
            </a:extLst>
          </p:cNvPr>
          <p:cNvSpPr txBox="1"/>
          <p:nvPr/>
        </p:nvSpPr>
        <p:spPr>
          <a:xfrm>
            <a:off x="1962864" y="13911366"/>
            <a:ext cx="96147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54000">
              <a:spcBef>
                <a:spcPts val="100"/>
              </a:spcBef>
            </a:pP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zh-TW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將人工智慧執行及訓練中所產生的二氧化碳，為避免傷害地球，進而試著將二氧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化碳轉為可發電能源，使得人工智慧運算過程所帶來的汙染降低。 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7C89BDF-48CF-8821-F685-DF694A7D3328}"/>
              </a:ext>
            </a:extLst>
          </p:cNvPr>
          <p:cNvSpPr txBox="1"/>
          <p:nvPr/>
        </p:nvSpPr>
        <p:spPr>
          <a:xfrm>
            <a:off x="1962865" y="21401881"/>
            <a:ext cx="9614708" cy="1043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</a:t>
            </a:r>
            <a:r>
              <a:rPr lang="zh-TW" altLang="zh-TW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將訓練人工智慧及人工智慧運算時所展生大量二氧化碳，透過</a:t>
            </a:r>
            <a:r>
              <a:rPr lang="en-US" altLang="zh-TW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CCS</a:t>
            </a:r>
            <a:r>
              <a:rPr lang="zh-TW" altLang="zh-TW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技術等方法捕捉二氧化碳後，以溫度</a:t>
            </a:r>
            <a:r>
              <a:rPr lang="en-US" altLang="zh-TW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31.10 °C</a:t>
            </a:r>
            <a:r>
              <a:rPr lang="zh-TW" altLang="zh-TW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，壓力</a:t>
            </a:r>
            <a:r>
              <a:rPr lang="en-US" altLang="zh-TW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72.9 atm</a:t>
            </a:r>
            <a:r>
              <a:rPr lang="zh-TW" altLang="zh-TW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下將二氧化碳轉為超臨界流體狀態，此時其會像氣體一樣充滿整個空間，且其高密度又像液體，所以壓縮超臨界二氧化碳相較於壓縮水蒸氣容易許多，之後再將其加熱使其體積上升壓力增大，再送進渦輪器推動渦輪進行發電，並再重新冷卻持續重複循環發電，並且後續訓練人工智慧及資料運算所需用電也取自此處，達成回收再利用之概念。</a:t>
            </a:r>
            <a:endParaRPr lang="zh-TW" altLang="en-US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D6C3E9A-AAD0-6A50-25E8-629DCBDAF5FF}"/>
              </a:ext>
            </a:extLst>
          </p:cNvPr>
          <p:cNvSpPr txBox="1"/>
          <p:nvPr/>
        </p:nvSpPr>
        <p:spPr>
          <a:xfrm>
            <a:off x="12756046" y="13836073"/>
            <a:ext cx="149698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spc="-5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</a:t>
            </a:r>
            <a:r>
              <a:rPr lang="zh-TW" altLang="zh-TW" sz="4800" b="1" spc="-5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在訓練人工智慧時候將會產生大量二氧化碳。舉個例子，訓練</a:t>
            </a:r>
            <a:r>
              <a:rPr lang="x-none" altLang="zh-TW" sz="4800" b="1" spc="-5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ChatGPT-3</a:t>
            </a:r>
            <a:r>
              <a:rPr lang="zh-TW" altLang="zh-TW" sz="4800" b="1" spc="-5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花費了近</a:t>
            </a:r>
            <a:r>
              <a:rPr lang="x-none" altLang="zh-TW" sz="4800" b="1" spc="-5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190Wh</a:t>
            </a:r>
            <a:r>
              <a:rPr lang="zh-TW" altLang="zh-TW" sz="4800" b="1" spc="-5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的電能，所產生的二氧化碳當量將近</a:t>
            </a:r>
            <a:r>
              <a:rPr lang="x-none" altLang="zh-TW" sz="4800" b="1" spc="-5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73,676.3kg</a:t>
            </a:r>
            <a:r>
              <a:rPr lang="zh-TW" altLang="zh-TW" sz="4800" b="1" spc="-5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相當於從開車從地球往返月亮的碳排放量，造成地球平均溫度升高，而促成海平面上升及極端氣候等危害。雖然大自然也會消除二氧化碳，但是目前二氧化碳的產出效率遠遠大於分解效率。我們是否能將這些二氧化碳廢棄物重新回收利用，嘗試降低產出效率，讓</a:t>
            </a:r>
            <a:r>
              <a:rPr lang="x-none" altLang="zh-TW" sz="4800" b="1" spc="-5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zh-TW" sz="4800" b="1" spc="-5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在增加效能時，也能對我們的環境造成的傷害降低</a:t>
            </a:r>
            <a:r>
              <a:rPr lang="x-none" altLang="zh-TW" sz="4800" b="1" spc="-5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zh-TW" sz="4800" b="1" spc="-5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8E0CEEF-BEE7-9A2E-22AF-055CF6039A1D}"/>
              </a:ext>
            </a:extLst>
          </p:cNvPr>
          <p:cNvSpPr txBox="1"/>
          <p:nvPr/>
        </p:nvSpPr>
        <p:spPr>
          <a:xfrm>
            <a:off x="1962864" y="35540369"/>
            <a:ext cx="251764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透過收集訓練</a:t>
            </a:r>
            <a:r>
              <a:rPr lang="en-US" altLang="zh-TW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AI</a:t>
            </a:r>
            <a:r>
              <a:rPr lang="zh-TW" altLang="en-US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所產生的大量二氧化碳，控制大氣層下的二氧化碳總數，控制其產生速率及消失效率趨近平衡，讓二氧化碳整體密度降低，逐漸降低地球上的二氧化碳，以降低二氧化碳所帶來的溫室效應壓力。</a:t>
            </a:r>
          </a:p>
          <a:p>
            <a:r>
              <a:rPr lang="zh-TW" altLang="en-US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抑或將發電廠利用環保能源燃燒二氧化碳進行後續發電，更減少了一般燃料所產生的二氧化碳，使得溫室效應的危機能在未來逐漸降低。</a:t>
            </a:r>
          </a:p>
        </p:txBody>
      </p:sp>
      <p:pic>
        <p:nvPicPr>
          <p:cNvPr id="13" name="圖片 12" descr="一張含有 文字, 螢幕擷取畫面, 圖表, 行 的圖片&#10;&#10;自動產生的描述">
            <a:extLst>
              <a:ext uri="{FF2B5EF4-FFF2-40B4-BE49-F238E27FC236}">
                <a16:creationId xmlns:a16="http://schemas.microsoft.com/office/drawing/2014/main" id="{E3B16705-498D-B496-5E5D-31A7657413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6046" y="21201143"/>
            <a:ext cx="14969800" cy="1122931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E0A0259D-6228-8496-053F-DB926172DEBD}"/>
              </a:ext>
            </a:extLst>
          </p:cNvPr>
          <p:cNvSpPr txBox="1"/>
          <p:nvPr/>
        </p:nvSpPr>
        <p:spPr>
          <a:xfrm>
            <a:off x="17708880" y="32844576"/>
            <a:ext cx="6522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b="1" dirty="0"/>
              <a:t>圖</a:t>
            </a:r>
            <a:r>
              <a:rPr lang="en-US" altLang="zh-TW" sz="4000" b="1" dirty="0"/>
              <a:t>1:</a:t>
            </a:r>
            <a:r>
              <a:rPr lang="zh-TW" altLang="en-US" sz="4000" b="1" dirty="0"/>
              <a:t>布雷頓循環</a:t>
            </a:r>
          </a:p>
        </p:txBody>
      </p:sp>
    </p:spTree>
    <p:extLst>
      <p:ext uri="{BB962C8B-B14F-4D97-AF65-F5344CB8AC3E}">
        <p14:creationId xmlns:p14="http://schemas.microsoft.com/office/powerpoint/2010/main" val="3758936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134</TotalTime>
  <Words>404</Words>
  <Application>Microsoft Office PowerPoint</Application>
  <PresentationFormat>自訂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微軟正黑體</vt:lpstr>
      <vt:lpstr>Arial</vt:lpstr>
      <vt:lpstr>Calibri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Liu</dc:creator>
  <cp:lastModifiedBy>有隆 莊</cp:lastModifiedBy>
  <cp:revision>21</cp:revision>
  <dcterms:created xsi:type="dcterms:W3CDTF">2023-10-23T03:43:38Z</dcterms:created>
  <dcterms:modified xsi:type="dcterms:W3CDTF">2025-12-09T02:21:54Z</dcterms:modified>
</cp:coreProperties>
</file>